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0"/>
  </p:notesMasterIdLst>
  <p:sldIdLst>
    <p:sldId id="283" r:id="rId2"/>
    <p:sldId id="257" r:id="rId3"/>
    <p:sldId id="282" r:id="rId4"/>
    <p:sldId id="285" r:id="rId5"/>
    <p:sldId id="312" r:id="rId6"/>
    <p:sldId id="278" r:id="rId7"/>
    <p:sldId id="310" r:id="rId8"/>
    <p:sldId id="313" r:id="rId9"/>
    <p:sldId id="264" r:id="rId10"/>
    <p:sldId id="304" r:id="rId11"/>
    <p:sldId id="286" r:id="rId12"/>
    <p:sldId id="302" r:id="rId13"/>
    <p:sldId id="279" r:id="rId14"/>
    <p:sldId id="293" r:id="rId15"/>
    <p:sldId id="303" r:id="rId16"/>
    <p:sldId id="305" r:id="rId17"/>
    <p:sldId id="306" r:id="rId18"/>
    <p:sldId id="308" r:id="rId19"/>
    <p:sldId id="307" r:id="rId20"/>
    <p:sldId id="309" r:id="rId21"/>
    <p:sldId id="301" r:id="rId22"/>
    <p:sldId id="280" r:id="rId23"/>
    <p:sldId id="288" r:id="rId24"/>
    <p:sldId id="298" r:id="rId25"/>
    <p:sldId id="299" r:id="rId26"/>
    <p:sldId id="289" r:id="rId27"/>
    <p:sldId id="300" r:id="rId28"/>
    <p:sldId id="276"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7A20C8A-3230-7FDF-84A0-9FEDF8C4227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BE6E3C5B-AAD0-5914-E99E-B1D14A4B9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E4530C5A-C331-6E71-7B54-4E23F8BFF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413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56B3537D-3BAF-7320-7B8E-67B9A09DABA9}"/>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883D2DA-0DB4-8639-C382-D6A531F703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332D724-2FF2-E806-377F-B54466F5A1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2859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3B2F3D4-DC2E-6229-7A00-49D158A182E0}"/>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615252B1-7BF3-305C-C384-739012E7A6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47B5B09-46C5-2492-A493-8D5BC3A2DD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7513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9C31D329-D5B7-FF4A-337A-2A016B4117BA}"/>
            </a:ext>
          </a:extLst>
        </p:cNvPr>
        <p:cNvGrpSpPr/>
        <p:nvPr/>
      </p:nvGrpSpPr>
      <p:grpSpPr>
        <a:xfrm>
          <a:off x="0" y="0"/>
          <a:ext cx="0" cy="0"/>
          <a:chOff x="0" y="0"/>
          <a:chExt cx="0" cy="0"/>
        </a:xfrm>
      </p:grpSpPr>
      <p:sp>
        <p:nvSpPr>
          <p:cNvPr id="189" name="Google Shape;189;p9:notes">
            <a:extLst>
              <a:ext uri="{FF2B5EF4-FFF2-40B4-BE49-F238E27FC236}">
                <a16:creationId xmlns:a16="http://schemas.microsoft.com/office/drawing/2014/main" id="{AAB8C2B7-131F-E5C7-1AB8-F83B2338FF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a:extLst>
              <a:ext uri="{FF2B5EF4-FFF2-40B4-BE49-F238E27FC236}">
                <a16:creationId xmlns:a16="http://schemas.microsoft.com/office/drawing/2014/main" id="{C4EF30B0-4E8E-9694-EA03-BEC2BBC740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7165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F729546-711B-6244-27FA-37DED88F928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49170074-1DE6-DFA4-CDBB-4541052CEC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5646F345-EAEE-1FC7-DE50-8A87D7579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211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75914BF-45E6-1118-A772-809E5E4C47E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2A8AC4BC-6E29-818F-FDD1-6638A49DCE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A97AEFDE-87AF-C3F0-2CBC-E178E96D2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6125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F38105F-2F3C-8EA2-81F3-922188201BC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F05535CB-0547-EC48-C92B-5CF8DFC110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826A0D48-BEEA-419D-D32D-D5618ED72C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8181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BE67C022-27C9-7AD5-F4F1-8099A09BBAC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6A038DDF-6CD2-DC0C-185E-FDC859ED57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2DFECEA-C264-0DAF-3461-B23793700D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882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9CEBF2A-BB2C-FE95-42AF-8B9FCA849343}"/>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43141458-4826-FBEF-4745-FE88A31C19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6540B28-D4B9-90AF-26AD-1E14B63D7E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145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9E114A7-88A9-375C-8045-54FD586B995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A3F1C46-79F8-18AD-9732-0A0B03690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18C541E4-8325-63EE-584E-9ACD7D4D18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0803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5708851-D92A-4AA5-EC24-45AD6215E0F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7DCC09D-5781-60D5-EC23-BF087899B8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CB15A1A-A67E-E21E-F9C6-BB40920DB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3415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B4FFE45-35C3-F770-9D8A-CA88F39C12C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128F54E4-EC87-EEE3-FEAF-D244C7A613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7235F20-E559-35F5-9A9F-0CD2F479B5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553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5C0542A-55EF-DAEA-8F4B-3E59C380026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11D8466-BAFD-71C5-1BC7-5BCCC93585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D7994FD-0C37-E6F5-5B51-AB6BEBEEFE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4673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edangi481/Recipe-Agent-Chef-Bo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extLst>
              <p:ext uri="{D42A27DB-BD31-4B8C-83A1-F6EECF244321}">
                <p14:modId xmlns:p14="http://schemas.microsoft.com/office/powerpoint/2010/main" val="13593342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1"/>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Vedangi Eknath Patil</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202401040058@mitaoe.ac.in</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9359887931</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mr-IN" sz="2400" b="1" dirty="0">
                <a:highlight>
                  <a:srgbClr val="FFFF00"/>
                </a:highlight>
              </a:rPr>
              <a:t>Food &amp; Nutrition</a:t>
            </a:r>
            <a:r>
              <a:rPr lang="en-US" sz="2400" b="1" dirty="0">
                <a:highlight>
                  <a:srgbClr val="FFFF00"/>
                </a:highlight>
              </a:rPr>
              <a:t>]</a:t>
            </a:r>
            <a:endParaRPr lang="en-IN" sz="2400" b="1" dirty="0">
              <a:highlight>
                <a:srgbClr val="FFFF00"/>
              </a:highlight>
            </a:endParaRPr>
          </a:p>
        </p:txBody>
      </p:sp>
      <p:sp>
        <p:nvSpPr>
          <p:cNvPr id="7" name="TextBox 6"/>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[Recipe Preparation Agent]</a:t>
            </a:r>
            <a:endParaRPr lang="en-IN" sz="2400" b="1" dirty="0">
              <a:highlight>
                <a:srgbClr val="FFFF00"/>
              </a:highlight>
            </a:endParaRPr>
          </a:p>
        </p:txBody>
      </p:sp>
      <p:pic>
        <p:nvPicPr>
          <p:cNvPr id="3" name="Picture 2">
            <a:extLst>
              <a:ext uri="{FF2B5EF4-FFF2-40B4-BE49-F238E27FC236}">
                <a16:creationId xmlns:a16="http://schemas.microsoft.com/office/drawing/2014/main" id="{7C3072E2-A562-1797-9531-BEA584D776D3}"/>
              </a:ext>
            </a:extLst>
          </p:cNvPr>
          <p:cNvPicPr>
            <a:picLocks noChangeAspect="1"/>
          </p:cNvPicPr>
          <p:nvPr/>
        </p:nvPicPr>
        <p:blipFill>
          <a:blip r:embed="rId3"/>
          <a:stretch>
            <a:fillRect/>
          </a:stretch>
        </p:blipFill>
        <p:spPr>
          <a:xfrm>
            <a:off x="4018060" y="3683879"/>
            <a:ext cx="827209" cy="947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908620"/>
            <a:ext cx="10607040" cy="6340197"/>
          </a:xfrm>
          <a:prstGeom prst="rect">
            <a:avLst/>
          </a:prstGeom>
          <a:noFill/>
        </p:spPr>
        <p:txBody>
          <a:bodyPr wrap="square" rtlCol="0">
            <a:spAutoFit/>
          </a:bodyPr>
          <a:lstStyle/>
          <a:p>
            <a:pPr fontAlgn="base"/>
            <a:r>
              <a:rPr lang="en-US" b="1" dirty="0"/>
              <a:t>Problem Statement : Recipe Preparation Agent</a:t>
            </a:r>
            <a:endParaRPr lang="en-US" dirty="0"/>
          </a:p>
          <a:p>
            <a:pPr fontAlgn="base"/>
            <a:endParaRPr lang="en-US" b="1" dirty="0"/>
          </a:p>
          <a:p>
            <a:pPr fontAlgn="base"/>
            <a:r>
              <a:rPr lang="en-US" b="1" dirty="0">
                <a:solidFill>
                  <a:schemeClr val="accent1"/>
                </a:solidFill>
              </a:rPr>
              <a:t>The Challenge</a:t>
            </a:r>
            <a:r>
              <a:rPr lang="en-US" dirty="0">
                <a:solidFill>
                  <a:schemeClr val="accent1"/>
                </a:solidFill>
              </a:rPr>
              <a:t/>
            </a:r>
          </a:p>
          <a:p>
            <a:pPr fontAlgn="base"/>
            <a:r>
              <a:rPr lang="mr-IN" dirty="0"/>
              <a:t>Many people already have the ingredients they need at home but often don't know what meals they can prepare with them. Most existing recipe platforms require users to search for recipes manually and frequently suggest dishes that need extra ingredients. As a result, people end up wasting food, spending more money on unnecessary groceries, and taking extra time to plan their meals.</a:t>
            </a:r>
          </a:p>
          <a:p>
            <a:pPr fontAlgn="base"/>
            <a:endParaRPr lang="en-US" dirty="0"/>
          </a:p>
          <a:p>
            <a:pPr fontAlgn="base"/>
            <a:r>
              <a:rPr lang="en-US" b="1" dirty="0">
                <a:solidFill>
                  <a:schemeClr val="accent1"/>
                </a:solidFill>
              </a:rPr>
              <a:t>The Objective</a:t>
            </a:r>
            <a:r>
              <a:rPr lang="en-US" dirty="0">
                <a:solidFill>
                  <a:schemeClr val="accent1"/>
                </a:solidFill>
              </a:rPr>
              <a:t/>
            </a:r>
          </a:p>
          <a:p>
            <a:pPr marL="285750" indent="-285750">
              <a:buFont typeface="Arial" panose="020B0604020202020204" pitchFamily="34" charset="0"/>
              <a:buChar char="•"/>
            </a:pPr>
            <a:r>
              <a:rPr lang="mr-IN" dirty="0"/>
              <a:t>Develop an AI-powered Recipe Preparation Agent using IBM Granite Models, IBM watsonx.ai, and Retrieval-Augmented Generation (RAG) that helps users cook meals using the ingredients already available in their kitchen.</a:t>
            </a:r>
          </a:p>
          <a:p>
            <a:endParaRPr lang="mr-IN" dirty="0"/>
          </a:p>
          <a:p>
            <a:pPr marL="285750" indent="-285750">
              <a:buFont typeface="Arial" panose="020B0604020202020204" pitchFamily="34" charset="0"/>
              <a:buChar char="•"/>
            </a:pPr>
            <a:r>
              <a:rPr lang="mr-IN" b="1" dirty="0"/>
              <a:t>The solution should provide:</a:t>
            </a:r>
          </a:p>
          <a:p>
            <a:endParaRPr lang="mr-IN" b="1" dirty="0"/>
          </a:p>
          <a:p>
            <a:pPr marL="285750" indent="-285750">
              <a:buFont typeface="Arial" panose="020B0604020202020204" pitchFamily="34" charset="0"/>
              <a:buChar char="•"/>
            </a:pPr>
            <a:r>
              <a:rPr lang="mr-IN" dirty="0"/>
              <a:t>Recipe suggestions based on available ingredients</a:t>
            </a:r>
          </a:p>
          <a:p>
            <a:endParaRPr lang="mr-IN" dirty="0"/>
          </a:p>
          <a:p>
            <a:pPr marL="285750" indent="-285750">
              <a:buFont typeface="Arial" panose="020B0604020202020204" pitchFamily="34" charset="0"/>
              <a:buChar char="•"/>
            </a:pPr>
            <a:r>
              <a:rPr lang="mr-IN" dirty="0"/>
              <a:t>Step-by-step cooking instructions</a:t>
            </a:r>
          </a:p>
          <a:p>
            <a:endParaRPr lang="mr-IN" dirty="0"/>
          </a:p>
          <a:p>
            <a:pPr marL="285750" indent="-285750">
              <a:buFont typeface="Arial" panose="020B0604020202020204" pitchFamily="34" charset="0"/>
              <a:buChar char="•"/>
            </a:pPr>
            <a:r>
              <a:rPr lang="mr-IN" dirty="0"/>
              <a:t>Ingredient substitution recommendations</a:t>
            </a:r>
          </a:p>
          <a:p>
            <a:endParaRPr lang="mr-IN" dirty="0"/>
          </a:p>
          <a:p>
            <a:pPr marL="285750" indent="-285750">
              <a:buFont typeface="Arial" panose="020B0604020202020204" pitchFamily="34" charset="0"/>
              <a:buChar char="•"/>
            </a:pPr>
            <a:r>
              <a:rPr lang="mr-IN" dirty="0"/>
              <a:t>Dietary preference support (vegetarian, vegan, diabetic, etc.)</a:t>
            </a:r>
          </a:p>
          <a:p>
            <a:endParaRPr lang="mr-IN" dirty="0"/>
          </a:p>
          <a:p>
            <a:pPr marL="285750" indent="-285750">
              <a:buFont typeface="Arial" panose="020B0604020202020204" pitchFamily="34" charset="0"/>
              <a:buChar char="•"/>
            </a:pPr>
            <a:r>
              <a:rPr lang="mr-IN" dirty="0"/>
              <a:t>Cooking tips and preparation guidance</a:t>
            </a:r>
          </a:p>
          <a:p>
            <a:endParaRPr lang="mr-IN" dirty="0"/>
          </a:p>
          <a:p>
            <a:pPr marL="285750" indent="-285750">
              <a:buFont typeface="Arial" panose="020B0604020202020204" pitchFamily="34" charset="0"/>
              <a:buChar char="•"/>
            </a:pPr>
            <a:r>
              <a:rPr lang="mr-IN" dirty="0"/>
              <a:t>RAG-based retrieval of trusted recipe information</a:t>
            </a:r>
          </a:p>
          <a:p>
            <a:endParaRPr lang="mr-IN" dirty="0"/>
          </a:p>
          <a:p>
            <a:pPr marL="285750" indent="-285750">
              <a:buFont typeface="Arial" panose="020B0604020202020204" pitchFamily="34" charset="0"/>
              <a:buChar char="•"/>
            </a:pPr>
            <a:r>
              <a:rPr lang="mr-IN" dirty="0"/>
              <a:t>A user-friendly web interface for everyday cooking assistance</a:t>
            </a:r>
          </a:p>
          <a:p>
            <a:pPr fontAlgn="base"/>
            <a:endParaRPr lang="en-US" dirty="0"/>
          </a:p>
          <a:p>
            <a:endParaRPr lang="en-IN" dirty="0"/>
          </a:p>
        </p:txBody>
      </p:sp>
      <p:sp>
        <p:nvSpPr>
          <p:cNvPr id="3" name="TextBox 2"/>
          <p:cNvSpPr txBox="1"/>
          <p:nvPr/>
        </p:nvSpPr>
        <p:spPr>
          <a:xfrm>
            <a:off x="576072" y="283674"/>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138699"/>
            <a:ext cx="10607040" cy="5509200"/>
          </a:xfrm>
          <a:prstGeom prst="rect">
            <a:avLst/>
          </a:prstGeom>
          <a:noFill/>
        </p:spPr>
        <p:txBody>
          <a:bodyPr wrap="square" rtlCol="0">
            <a:spAutoFit/>
          </a:bodyPr>
          <a:lstStyle/>
          <a:p>
            <a:r>
              <a:rPr lang="en-US" sz="1600" b="1" dirty="0"/>
              <a:t>Proposed Solution: </a:t>
            </a:r>
            <a:r>
              <a:rPr lang="mr-IN" sz="1600" b="1" dirty="0"/>
              <a:t>AI-Powered Smart Recipe Preparation Assistant</a:t>
            </a:r>
          </a:p>
          <a:p>
            <a:endParaRPr lang="mr-IN" sz="1600" b="1" dirty="0"/>
          </a:p>
          <a:p>
            <a:r>
              <a:rPr lang="mr-IN" sz="1600" dirty="0"/>
              <a:t>The proposed solution is a </a:t>
            </a:r>
            <a:r>
              <a:rPr lang="mr-IN" sz="1600" b="1" dirty="0"/>
              <a:t>multi-agent AI-powered Smart Recipe Preparation Assistant</a:t>
            </a:r>
            <a:r>
              <a:rPr lang="mr-IN" sz="1600" dirty="0"/>
              <a:t> built using </a:t>
            </a:r>
            <a:r>
              <a:rPr lang="mr-IN" sz="1600" b="1" dirty="0"/>
              <a:t>IBM watsonx.ai, IBM Granite Model, Flask, ChromaDB, and Retrieval-Augmented Generation (RAG)</a:t>
            </a:r>
            <a:r>
              <a:rPr lang="mr-IN" sz="1600" dirty="0"/>
              <a:t> to provide personalized recipe recommendations, step-by-step cooking guidance, and smart ingredient substitutions. At its core, the solution uses a </a:t>
            </a:r>
            <a:r>
              <a:rPr lang="mr-IN" sz="1600" b="1" dirty="0"/>
              <a:t>Retrieval-Augmented Generation (RAG)</a:t>
            </a:r>
            <a:r>
              <a:rPr lang="mr-IN" sz="1600" dirty="0"/>
              <a:t> pipeline to retrieve accurate recipe information from a trusted recipe knowledge base. This information is embedded and stored in a vector database, enabling the system to provide relevant recipes, cooking instructions, nutritional information, and personalized meal recommendations using </a:t>
            </a:r>
            <a:r>
              <a:rPr lang="mr-IN" sz="1600" b="1" dirty="0"/>
              <a:t>IBM Granite Model</a:t>
            </a:r>
            <a:r>
              <a:rPr lang="mr-IN" sz="1600" dirty="0"/>
              <a:t>.</a:t>
            </a:r>
          </a:p>
          <a:p>
            <a:endParaRPr lang="mr-IN" sz="1600" dirty="0"/>
          </a:p>
          <a:p>
            <a:r>
              <a:rPr lang="mr-IN" sz="1600" b="1" dirty="0">
                <a:solidFill>
                  <a:schemeClr val="accent1"/>
                </a:solidFill>
              </a:rPr>
              <a:t>The system consists of four key agents:</a:t>
            </a:r>
          </a:p>
          <a:p>
            <a:endParaRPr lang="mr-IN" sz="1600" b="1" dirty="0">
              <a:solidFill>
                <a:schemeClr val="accent1"/>
              </a:solidFill>
            </a:endParaRPr>
          </a:p>
          <a:p>
            <a:pPr marL="285750" indent="-285750">
              <a:buFont typeface="Arial" panose="020B0604020202020204" pitchFamily="34" charset="0"/>
              <a:buChar char="•"/>
            </a:pPr>
            <a:r>
              <a:rPr lang="mr-IN" sz="1600" b="1" dirty="0"/>
              <a:t>Ingredient Analysis Agent</a:t>
            </a:r>
            <a:r>
              <a:rPr lang="mr-IN" sz="1600" dirty="0"/>
              <a:t> – Identifies and analyzes the ingredients entered by the user to determine the possible meal options.</a:t>
            </a:r>
          </a:p>
          <a:p>
            <a:pPr marL="285750" indent="-285750">
              <a:buFont typeface="Arial" panose="020B0604020202020204" pitchFamily="34" charset="0"/>
              <a:buChar char="•"/>
            </a:pPr>
            <a:r>
              <a:rPr lang="mr-IN" sz="1600" b="1" dirty="0"/>
              <a:t>Recipe Retrieval Agent</a:t>
            </a:r>
            <a:r>
              <a:rPr lang="mr-IN" sz="1600" dirty="0"/>
              <a:t> – Retrieves relevant recipes, cooking methods, and ingredient information using the RAG pipeline. </a:t>
            </a:r>
          </a:p>
          <a:p>
            <a:pPr marL="285750" indent="-285750">
              <a:buFont typeface="Arial" panose="020B0604020202020204" pitchFamily="34" charset="0"/>
              <a:buChar char="•"/>
            </a:pPr>
            <a:r>
              <a:rPr lang="mr-IN" sz="1600" b="1" dirty="0"/>
              <a:t>Recipe Generation Agent</a:t>
            </a:r>
            <a:r>
              <a:rPr lang="mr-IN" sz="1600" dirty="0"/>
              <a:t> – Generates personalized recipes with step-by-step cooking instructions using IBM Granite AI.</a:t>
            </a:r>
            <a:endParaRPr lang="en-US" sz="1600" dirty="0"/>
          </a:p>
          <a:p>
            <a:pPr marL="285750" indent="-285750">
              <a:buFont typeface="Arial" panose="020B0604020202020204" pitchFamily="34" charset="0"/>
              <a:buChar char="•"/>
            </a:pPr>
            <a:r>
              <a:rPr lang="mr-IN" sz="1600" b="1" dirty="0"/>
              <a:t>Recommendation Agent</a:t>
            </a:r>
            <a:r>
              <a:rPr lang="mr-IN" sz="1600" dirty="0"/>
              <a:t> – Suggests ingredient substitutions, dietary modifications, cooking tips, and suitable meal recommendations. </a:t>
            </a:r>
          </a:p>
          <a:p>
            <a:endParaRPr lang="mr-IN" sz="1600" dirty="0"/>
          </a:p>
          <a:p>
            <a:endParaRPr lang="en-IN" sz="1600" dirty="0"/>
          </a:p>
        </p:txBody>
      </p:sp>
      <p:sp>
        <p:nvSpPr>
          <p:cNvPr id="3" name="TextBox 2"/>
          <p:cNvSpPr txBox="1"/>
          <p:nvPr/>
        </p:nvSpPr>
        <p:spPr>
          <a:xfrm>
            <a:off x="576072" y="210101"/>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24FF49-902D-7FD9-D100-B326C6ECCF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1910C8-B5AE-187D-8D79-0FBE435B0DFD}"/>
              </a:ext>
            </a:extLst>
          </p:cNvPr>
          <p:cNvSpPr txBox="1"/>
          <p:nvPr/>
        </p:nvSpPr>
        <p:spPr>
          <a:xfrm>
            <a:off x="576072" y="1413063"/>
            <a:ext cx="10607040" cy="4031873"/>
          </a:xfrm>
          <a:prstGeom prst="rect">
            <a:avLst/>
          </a:prstGeom>
          <a:noFill/>
        </p:spPr>
        <p:txBody>
          <a:bodyPr wrap="square" rtlCol="0">
            <a:spAutoFit/>
          </a:bodyPr>
          <a:lstStyle/>
          <a:p>
            <a:r>
              <a:rPr lang="en-US" sz="1600" b="1" dirty="0"/>
              <a:t>Proposed Solution: </a:t>
            </a:r>
            <a:r>
              <a:rPr lang="mr-IN" sz="1600" b="1" dirty="0"/>
              <a:t>AI-Powered Smart Recipe Preparation Assistant</a:t>
            </a:r>
          </a:p>
          <a:p>
            <a:endParaRPr lang="mr-IN" sz="1600" b="1" dirty="0"/>
          </a:p>
          <a:p>
            <a:endParaRPr lang="mr-IN" sz="1600" dirty="0"/>
          </a:p>
          <a:p>
            <a:r>
              <a:rPr lang="mr-IN" sz="1600" dirty="0"/>
              <a:t>The solution includes a </a:t>
            </a:r>
            <a:r>
              <a:rPr lang="mr-IN" sz="1600" b="1" dirty="0"/>
              <a:t>modern recipe preparation dashboard</a:t>
            </a:r>
            <a:r>
              <a:rPr lang="mr-IN" sz="1600" dirty="0"/>
              <a:t> built using </a:t>
            </a:r>
            <a:r>
              <a:rPr lang="mr-IN" sz="1600" b="1" dirty="0"/>
              <a:t>Flask</a:t>
            </a:r>
            <a:r>
              <a:rPr lang="mr-IN" sz="1600" dirty="0"/>
              <a:t>, where users can enter available ingredients, receive personalized recipe suggestions, view detailed cooking instructions, explore ingredient substitutions, analyze nutritional information, and customize recipes based on their dietary preferences through an intuitive interface.</a:t>
            </a:r>
          </a:p>
          <a:p>
            <a:endParaRPr lang="mr-IN" sz="1600" dirty="0"/>
          </a:p>
          <a:p>
            <a:r>
              <a:rPr lang="mr-IN" sz="1600" b="1" dirty="0"/>
              <a:t>IBM watsonx.ai</a:t>
            </a:r>
            <a:r>
              <a:rPr lang="mr-IN" sz="1600" dirty="0"/>
              <a:t> manages AI model deployment, embeddings, and prompt execution, while </a:t>
            </a:r>
            <a:r>
              <a:rPr lang="mr-IN" sz="1600" b="1" dirty="0"/>
              <a:t>ChromaDB</a:t>
            </a:r>
            <a:r>
              <a:rPr lang="mr-IN" sz="1600" dirty="0"/>
              <a:t> enables efficient semantic retrieval through the RAG pipeline. </a:t>
            </a:r>
            <a:r>
              <a:rPr lang="mr-IN" sz="1600" b="1" dirty="0"/>
              <a:t>IBM Granite Model</a:t>
            </a:r>
            <a:r>
              <a:rPr lang="mr-IN" sz="1600" dirty="0"/>
              <a:t> power intelligent recipe generation, ingredient analysis, cooking guidance, and personalized meal recommendations.</a:t>
            </a:r>
          </a:p>
          <a:p>
            <a:endParaRPr lang="mr-IN" sz="1600" dirty="0"/>
          </a:p>
          <a:p>
            <a:r>
              <a:rPr lang="mr-IN" sz="1600" dirty="0"/>
              <a:t>Overall, this solution delivers an end-to-end </a:t>
            </a:r>
            <a:r>
              <a:rPr lang="mr-IN" sz="1600" b="1" dirty="0"/>
              <a:t>AI-powered Recipe Preparation Assistant</a:t>
            </a:r>
            <a:r>
              <a:rPr lang="mr-IN" sz="1600" dirty="0"/>
              <a:t> that helps users prepare delicious meals using available ingredients, reduces food waste, saves time, and makes everyday cooking easier through a simple and user-friendly platform.</a:t>
            </a:r>
          </a:p>
          <a:p>
            <a:endParaRPr lang="en-IN" sz="1600" dirty="0"/>
          </a:p>
        </p:txBody>
      </p:sp>
      <p:sp>
        <p:nvSpPr>
          <p:cNvPr id="3" name="TextBox 2">
            <a:extLst>
              <a:ext uri="{FF2B5EF4-FFF2-40B4-BE49-F238E27FC236}">
                <a16:creationId xmlns:a16="http://schemas.microsoft.com/office/drawing/2014/main" id="{334B3ED0-CA41-34DE-87E3-01D2D8780D42}"/>
              </a:ext>
            </a:extLst>
          </p:cNvPr>
          <p:cNvSpPr txBox="1"/>
          <p:nvPr/>
        </p:nvSpPr>
        <p:spPr>
          <a:xfrm>
            <a:off x="576072" y="525412"/>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128335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3970318"/>
          </a:xfrm>
          <a:prstGeom prst="rect">
            <a:avLst/>
          </a:prstGeom>
          <a:noFill/>
        </p:spPr>
        <p:txBody>
          <a:bodyPr wrap="square" lIns="91440" tIns="45720" rIns="91440" bIns="45720" rtlCol="0" anchor="t">
            <a:spAutoFit/>
          </a:bodyPr>
          <a:lstStyle/>
          <a:p>
            <a:r>
              <a:rPr lang="mr-IN" sz="1800" b="1" dirty="0"/>
              <a:t>IBM Cloud- </a:t>
            </a:r>
            <a:r>
              <a:rPr lang="mr-IN" sz="1800" dirty="0"/>
              <a:t>Provides a secure cloud platform for developing, managing, and deploying the application.</a:t>
            </a:r>
          </a:p>
          <a:p>
            <a:r>
              <a:rPr lang="mr-IN" sz="1800" b="1" dirty="0"/>
              <a:t>IBM watsonx.ai- </a:t>
            </a:r>
            <a:r>
              <a:rPr lang="mr-IN" sz="1800" dirty="0"/>
              <a:t>Used to access AI models, execute prompts, and generate intelligent recipe recommendations.</a:t>
            </a:r>
          </a:p>
          <a:p>
            <a:r>
              <a:rPr lang="mr-IN" sz="1800" b="1" dirty="0"/>
              <a:t>IBM Granite </a:t>
            </a:r>
            <a:r>
              <a:rPr lang="en-IN" sz="1800" b="1" dirty="0"/>
              <a:t>3.2-8B-</a:t>
            </a:r>
            <a:r>
              <a:rPr lang="mr-IN" sz="1800" b="1" dirty="0"/>
              <a:t/>
            </a:r>
            <a:r>
              <a:rPr lang="mr-IN" sz="1800" dirty="0"/>
              <a:t>Power the AI assistant by generating personalized recipes, cooking instructions, and ingredient recommendations.</a:t>
            </a:r>
          </a:p>
          <a:p>
            <a:r>
              <a:rPr lang="mr-IN" sz="1800" b="1" dirty="0"/>
              <a:t>Retrieval-Augmented Generation (RAG)- </a:t>
            </a:r>
            <a:r>
              <a:rPr lang="mr-IN" sz="1800" dirty="0"/>
              <a:t>Retrieves relevant recipe information from the knowledge base before generating responses, improving accuracy and reducing incorrect results.</a:t>
            </a:r>
          </a:p>
          <a:p>
            <a:r>
              <a:rPr lang="mr-IN" sz="1800" b="1" dirty="0"/>
              <a:t>ChromaDB- </a:t>
            </a:r>
            <a:r>
              <a:rPr lang="mr-IN" sz="1800" dirty="0"/>
              <a:t>Stores recipe document embeddings and enables fast semantic search for relevant cooking information.</a:t>
            </a:r>
          </a:p>
          <a:p>
            <a:r>
              <a:rPr lang="mr-IN" sz="1800" b="1" dirty="0"/>
              <a:t>Flask (Python)- </a:t>
            </a:r>
            <a:r>
              <a:rPr lang="mr-IN" sz="1800" dirty="0"/>
              <a:t>Used to develop the backend APIs and integrate the AI model with the web application.</a:t>
            </a:r>
          </a:p>
          <a:p>
            <a:r>
              <a:rPr lang="mr-IN" sz="1800" b="1" dirty="0"/>
              <a:t>HTML5, CSS3 &amp; JavaScript- </a:t>
            </a:r>
            <a:r>
              <a:rPr lang="mr-IN" sz="1800" dirty="0"/>
              <a:t>Used to build a responsive, interactive, and user-friendly web interface.</a:t>
            </a:r>
          </a:p>
          <a:p>
            <a:r>
              <a:rPr lang="mr-IN" sz="1800" b="1" dirty="0"/>
              <a:t>Bootstrap- </a:t>
            </a:r>
            <a:r>
              <a:rPr lang="mr-IN" sz="1800" dirty="0"/>
              <a:t>Provides a modern and mobile-friendly user interface with responsive design components.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24A1263-6398-88A3-896B-72129F45B43A}"/>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6B76C0BC-9B3C-90F2-D855-DA2ABE7E00B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mj-lt"/>
                <a:ea typeface="Calibri" panose="020F0502020204030204"/>
                <a:cs typeface="Calibri" panose="020F0502020204030204"/>
                <a:sym typeface="Calibri" panose="020F0502020204030204"/>
              </a:rPr>
              <a:t>Process Flow Diagram:</a:t>
            </a:r>
            <a:endParaRPr lang="en-US" sz="2400" dirty="0">
              <a:solidFill>
                <a:schemeClr val="dk1"/>
              </a:solidFill>
              <a:latin typeface="+mj-lt"/>
            </a:endParaRPr>
          </a:p>
        </p:txBody>
      </p:sp>
      <p:pic>
        <p:nvPicPr>
          <p:cNvPr id="5" name="Picture 4">
            <a:extLst>
              <a:ext uri="{FF2B5EF4-FFF2-40B4-BE49-F238E27FC236}">
                <a16:creationId xmlns:a16="http://schemas.microsoft.com/office/drawing/2014/main" id="{A0FD3B52-84B9-23B7-88DF-0011E813EED3}"/>
              </a:ext>
            </a:extLst>
          </p:cNvPr>
          <p:cNvPicPr>
            <a:picLocks noChangeAspect="1"/>
          </p:cNvPicPr>
          <p:nvPr/>
        </p:nvPicPr>
        <p:blipFill>
          <a:blip r:embed="rId3"/>
          <a:stretch>
            <a:fillRect/>
          </a:stretch>
        </p:blipFill>
        <p:spPr>
          <a:xfrm>
            <a:off x="1646183" y="1122809"/>
            <a:ext cx="8117928" cy="5411952"/>
          </a:xfrm>
          <a:prstGeom prst="rect">
            <a:avLst/>
          </a:prstGeom>
        </p:spPr>
      </p:pic>
    </p:spTree>
    <p:extLst>
      <p:ext uri="{BB962C8B-B14F-4D97-AF65-F5344CB8AC3E}">
        <p14:creationId xmlns:p14="http://schemas.microsoft.com/office/powerpoint/2010/main" val="4009025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71EDB377-508C-F917-C993-7B5EFE9EB71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94153AC-074A-B2E6-07C8-ABBDD90F15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mj-lt"/>
                <a:ea typeface="Calibri" panose="020F0502020204030204"/>
                <a:cs typeface="Calibri" panose="020F0502020204030204"/>
                <a:sym typeface="Calibri" panose="020F0502020204030204"/>
              </a:rPr>
              <a:t>Architecture blueprint</a:t>
            </a:r>
            <a:endParaRPr lang="en-US" sz="2400" dirty="0">
              <a:solidFill>
                <a:schemeClr val="dk1"/>
              </a:solidFill>
              <a:latin typeface="+mj-lt"/>
            </a:endParaRPr>
          </a:p>
        </p:txBody>
      </p:sp>
      <p:pic>
        <p:nvPicPr>
          <p:cNvPr id="4" name="Picture 3">
            <a:extLst>
              <a:ext uri="{FF2B5EF4-FFF2-40B4-BE49-F238E27FC236}">
                <a16:creationId xmlns:a16="http://schemas.microsoft.com/office/drawing/2014/main" id="{22A9AA6B-517C-0508-900D-B7F29B3FAE24}"/>
              </a:ext>
            </a:extLst>
          </p:cNvPr>
          <p:cNvPicPr>
            <a:picLocks noChangeAspect="1"/>
          </p:cNvPicPr>
          <p:nvPr/>
        </p:nvPicPr>
        <p:blipFill>
          <a:blip r:embed="rId3"/>
          <a:stretch>
            <a:fillRect/>
          </a:stretch>
        </p:blipFill>
        <p:spPr>
          <a:xfrm>
            <a:off x="1740776" y="1030286"/>
            <a:ext cx="7897210" cy="5264806"/>
          </a:xfrm>
          <a:prstGeom prst="rect">
            <a:avLst/>
          </a:prstGeom>
        </p:spPr>
      </p:pic>
    </p:spTree>
    <p:extLst>
      <p:ext uri="{BB962C8B-B14F-4D97-AF65-F5344CB8AC3E}">
        <p14:creationId xmlns:p14="http://schemas.microsoft.com/office/powerpoint/2010/main" val="53728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461665"/>
          </a:xfrm>
          <a:prstGeom prst="rect">
            <a:avLst/>
          </a:prstGeom>
          <a:noFill/>
        </p:spPr>
        <p:txBody>
          <a:bodyPr wrap="square" rtlCol="0">
            <a:spAutoFit/>
          </a:bodyPr>
          <a:lstStyle/>
          <a:p>
            <a:r>
              <a:rPr lang="en-US" sz="2400" b="1" dirty="0"/>
              <a:t>Role of Agentic AI in the solution </a:t>
            </a:r>
            <a:endParaRPr lang="en-IN" sz="2400" b="1" dirty="0"/>
          </a:p>
        </p:txBody>
      </p:sp>
      <p:sp>
        <p:nvSpPr>
          <p:cNvPr id="3" name="TextBox 2"/>
          <p:cNvSpPr txBox="1"/>
          <p:nvPr/>
        </p:nvSpPr>
        <p:spPr>
          <a:xfrm>
            <a:off x="611282" y="1430252"/>
            <a:ext cx="7406640" cy="3754874"/>
          </a:xfrm>
          <a:prstGeom prst="rect">
            <a:avLst/>
          </a:prstGeom>
          <a:noFill/>
        </p:spPr>
        <p:txBody>
          <a:bodyPr wrap="square" rtlCol="0">
            <a:spAutoFit/>
          </a:bodyPr>
          <a:lstStyle/>
          <a:p>
            <a:r>
              <a:rPr lang="en-US" b="1" dirty="0"/>
              <a:t>Role of Agentic AI in </a:t>
            </a:r>
            <a:r>
              <a:rPr lang="mr-IN" b="1" dirty="0"/>
              <a:t>Recipe Preparation Assistant </a:t>
            </a:r>
            <a:r>
              <a:rPr lang="en-US" b="1" dirty="0"/>
              <a:t>Agent</a:t>
            </a:r>
          </a:p>
          <a:p>
            <a:pPr marL="285750" indent="-285750">
              <a:buFont typeface="Arial" panose="020B0604020202020204" pitchFamily="34" charset="0"/>
              <a:buChar char="•"/>
            </a:pPr>
            <a:r>
              <a:rPr lang="mr-IN" dirty="0"/>
              <a:t>Agentic AI acts as an intelligent cooking assistant that understands the user's available ingredients and provides practical recipe suggestions instead of generic recommendations.</a:t>
            </a:r>
          </a:p>
          <a:p>
            <a:pPr marL="285750" indent="-285750">
              <a:buFont typeface="Arial" panose="020B0604020202020204" pitchFamily="34" charset="0"/>
              <a:buChar char="•"/>
            </a:pPr>
            <a:r>
              <a:rPr lang="mr-IN" dirty="0"/>
              <a:t>Different AI agents work together to make the cooking experience simple and personalized.</a:t>
            </a:r>
          </a:p>
          <a:p>
            <a:pPr marL="285750" indent="-285750">
              <a:buFont typeface="Arial" panose="020B0604020202020204" pitchFamily="34" charset="0"/>
              <a:buChar char="•"/>
            </a:pPr>
            <a:r>
              <a:rPr lang="mr-IN" b="1" dirty="0"/>
              <a:t>Ingredient Analysis Agent</a:t>
            </a:r>
            <a:r>
              <a:rPr lang="mr-IN" dirty="0"/>
              <a:t> identifies the ingredients entered by the user. </a:t>
            </a:r>
          </a:p>
          <a:p>
            <a:pPr marL="285750" indent="-285750">
              <a:buFont typeface="Arial" panose="020B0604020202020204" pitchFamily="34" charset="0"/>
              <a:buChar char="•"/>
            </a:pPr>
            <a:r>
              <a:rPr lang="mr-IN" b="1" dirty="0"/>
              <a:t>Recipe Retrieval Agent</a:t>
            </a:r>
            <a:r>
              <a:rPr lang="mr-IN" dirty="0"/>
              <a:t> searches the recipe database using RAG to find the most suitable recipes. </a:t>
            </a:r>
          </a:p>
          <a:p>
            <a:pPr marL="285750" indent="-285750">
              <a:buFont typeface="Arial" panose="020B0604020202020204" pitchFamily="34" charset="0"/>
              <a:buChar char="•"/>
            </a:pPr>
            <a:r>
              <a:rPr lang="mr-IN" b="1" dirty="0"/>
              <a:t>Recipe Generation Agent</a:t>
            </a:r>
            <a:r>
              <a:rPr lang="mr-IN" dirty="0"/>
              <a:t> uses IBM Granite to generate clear, step-by-step cooking instructions. </a:t>
            </a:r>
          </a:p>
          <a:p>
            <a:pPr marL="285750" indent="-285750">
              <a:buFont typeface="Arial" panose="020B0604020202020204" pitchFamily="34" charset="0"/>
              <a:buChar char="•"/>
            </a:pPr>
            <a:r>
              <a:rPr lang="mr-IN" b="1" dirty="0"/>
              <a:t>Substitution Agent</a:t>
            </a:r>
            <a:r>
              <a:rPr lang="mr-IN" dirty="0"/>
              <a:t> suggests alternative ingredients when some items are unavailable. </a:t>
            </a:r>
          </a:p>
          <a:p>
            <a:pPr marL="285750" indent="-285750">
              <a:buFont typeface="Arial" panose="020B0604020202020204" pitchFamily="34" charset="0"/>
              <a:buChar char="•"/>
            </a:pPr>
            <a:r>
              <a:rPr lang="mr-IN" b="1" dirty="0"/>
              <a:t>Dietary Preference Agent</a:t>
            </a:r>
            <a:r>
              <a:rPr lang="mr-IN" dirty="0"/>
              <a:t> modifies recipes based on vegetarian, vegan, or other dietary requirements. </a:t>
            </a:r>
          </a:p>
          <a:p>
            <a:pPr marL="285750" indent="-285750">
              <a:buFont typeface="Arial" panose="020B0604020202020204" pitchFamily="34" charset="0"/>
              <a:buChar char="•"/>
            </a:pPr>
            <a:r>
              <a:rPr lang="mr-IN" b="1" dirty="0"/>
              <a:t>Cooking Tips Agent</a:t>
            </a:r>
            <a:r>
              <a:rPr lang="mr-IN" dirty="0"/>
              <a:t> provides useful cooking tips and preparation guidance. </a:t>
            </a:r>
          </a:p>
          <a:p>
            <a:pPr marL="285750" indent="-285750">
              <a:buFont typeface="Arial" panose="020B0604020202020204" pitchFamily="34" charset="0"/>
              <a:buChar char="•"/>
            </a:pPr>
            <a:r>
              <a:rPr lang="mr-IN" dirty="0"/>
              <a:t>Together, these agents help users prepare meals easily, reduce food waste, save time, and make better use of the ingredients already available at home.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0930887C-7CB2-89F3-F8BF-B012532B6D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8F5E68-1C2E-7610-331A-360EBFBBED11}"/>
              </a:ext>
            </a:extLst>
          </p:cNvPr>
          <p:cNvSpPr txBox="1"/>
          <p:nvPr/>
        </p:nvSpPr>
        <p:spPr>
          <a:xfrm>
            <a:off x="282913" y="299436"/>
            <a:ext cx="9317736" cy="461665"/>
          </a:xfrm>
          <a:prstGeom prst="rect">
            <a:avLst/>
          </a:prstGeom>
          <a:noFill/>
        </p:spPr>
        <p:txBody>
          <a:bodyPr wrap="square" rtlCol="0">
            <a:spAutoFit/>
          </a:bodyPr>
          <a:lstStyle/>
          <a:p>
            <a:r>
              <a:rPr lang="en-US" sz="2400" b="1" dirty="0"/>
              <a:t>Token Usage</a:t>
            </a:r>
            <a:endParaRPr lang="en-IN" sz="2400" b="1" dirty="0"/>
          </a:p>
        </p:txBody>
      </p:sp>
      <p:pic>
        <p:nvPicPr>
          <p:cNvPr id="5" name="Picture 4">
            <a:extLst>
              <a:ext uri="{FF2B5EF4-FFF2-40B4-BE49-F238E27FC236}">
                <a16:creationId xmlns:a16="http://schemas.microsoft.com/office/drawing/2014/main" id="{2F8A3B26-36C8-668D-552B-803E8028584B}"/>
              </a:ext>
            </a:extLst>
          </p:cNvPr>
          <p:cNvPicPr>
            <a:picLocks noChangeAspect="1"/>
          </p:cNvPicPr>
          <p:nvPr/>
        </p:nvPicPr>
        <p:blipFill>
          <a:blip r:embed="rId3"/>
          <a:stretch>
            <a:fillRect/>
          </a:stretch>
        </p:blipFill>
        <p:spPr>
          <a:xfrm>
            <a:off x="6295697" y="2292848"/>
            <a:ext cx="5896304" cy="3116237"/>
          </a:xfrm>
          <a:prstGeom prst="rect">
            <a:avLst/>
          </a:prstGeom>
        </p:spPr>
      </p:pic>
      <p:pic>
        <p:nvPicPr>
          <p:cNvPr id="9" name="Picture 8">
            <a:extLst>
              <a:ext uri="{FF2B5EF4-FFF2-40B4-BE49-F238E27FC236}">
                <a16:creationId xmlns:a16="http://schemas.microsoft.com/office/drawing/2014/main" id="{D6F6EF49-263D-BCA4-0AAD-3F417F7A01CF}"/>
              </a:ext>
            </a:extLst>
          </p:cNvPr>
          <p:cNvPicPr>
            <a:picLocks noChangeAspect="1"/>
          </p:cNvPicPr>
          <p:nvPr/>
        </p:nvPicPr>
        <p:blipFill>
          <a:blip r:embed="rId4"/>
          <a:stretch>
            <a:fillRect/>
          </a:stretch>
        </p:blipFill>
        <p:spPr>
          <a:xfrm>
            <a:off x="1" y="2292848"/>
            <a:ext cx="6096162" cy="3116237"/>
          </a:xfrm>
          <a:prstGeom prst="rect">
            <a:avLst/>
          </a:prstGeom>
        </p:spPr>
      </p:pic>
      <p:sp>
        <p:nvSpPr>
          <p:cNvPr id="11" name="TextBox 10">
            <a:extLst>
              <a:ext uri="{FF2B5EF4-FFF2-40B4-BE49-F238E27FC236}">
                <a16:creationId xmlns:a16="http://schemas.microsoft.com/office/drawing/2014/main" id="{54D1A279-9302-0093-C9DA-FBD9EF2B821C}"/>
              </a:ext>
            </a:extLst>
          </p:cNvPr>
          <p:cNvSpPr txBox="1"/>
          <p:nvPr/>
        </p:nvSpPr>
        <p:spPr>
          <a:xfrm>
            <a:off x="282913" y="1316816"/>
            <a:ext cx="6094268" cy="369332"/>
          </a:xfrm>
          <a:prstGeom prst="rect">
            <a:avLst/>
          </a:prstGeom>
          <a:noFill/>
        </p:spPr>
        <p:txBody>
          <a:bodyPr wrap="square">
            <a:spAutoFit/>
          </a:bodyPr>
          <a:lstStyle/>
          <a:p>
            <a:r>
              <a:rPr lang="en-US" sz="1800" b="1" dirty="0"/>
              <a:t>Before prompt:</a:t>
            </a:r>
            <a:endParaRPr lang="en-IN" sz="1800" b="1" dirty="0"/>
          </a:p>
        </p:txBody>
      </p:sp>
      <p:sp>
        <p:nvSpPr>
          <p:cNvPr id="13" name="TextBox 12">
            <a:extLst>
              <a:ext uri="{FF2B5EF4-FFF2-40B4-BE49-F238E27FC236}">
                <a16:creationId xmlns:a16="http://schemas.microsoft.com/office/drawing/2014/main" id="{DAB0E186-9269-89D5-2BA4-0FD75278E681}"/>
              </a:ext>
            </a:extLst>
          </p:cNvPr>
          <p:cNvSpPr txBox="1"/>
          <p:nvPr/>
        </p:nvSpPr>
        <p:spPr>
          <a:xfrm>
            <a:off x="6474373" y="1311581"/>
            <a:ext cx="6096000" cy="369332"/>
          </a:xfrm>
          <a:prstGeom prst="rect">
            <a:avLst/>
          </a:prstGeom>
          <a:noFill/>
        </p:spPr>
        <p:txBody>
          <a:bodyPr wrap="square">
            <a:spAutoFit/>
          </a:bodyPr>
          <a:lstStyle/>
          <a:p>
            <a:r>
              <a:rPr lang="en-US" sz="1800" b="1" dirty="0"/>
              <a:t>After prompt:</a:t>
            </a:r>
            <a:endParaRPr lang="en-IN" sz="1800" b="1" dirty="0"/>
          </a:p>
        </p:txBody>
      </p:sp>
    </p:spTree>
    <p:extLst>
      <p:ext uri="{BB962C8B-B14F-4D97-AF65-F5344CB8AC3E}">
        <p14:creationId xmlns:p14="http://schemas.microsoft.com/office/powerpoint/2010/main" val="254382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39003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682647" y="1225689"/>
            <a:ext cx="11301984" cy="5632311"/>
          </a:xfrm>
          <a:prstGeom prst="rect">
            <a:avLst/>
          </a:prstGeom>
          <a:noFill/>
        </p:spPr>
        <p:txBody>
          <a:bodyPr wrap="square" rtlCol="0">
            <a:spAutoFit/>
          </a:bodyPr>
          <a:lstStyle/>
          <a:p>
            <a:pPr marL="285750" indent="-285750">
              <a:buFont typeface="Arial" panose="020B0604020202020204" pitchFamily="34" charset="0"/>
              <a:buChar char="•"/>
            </a:pPr>
            <a:r>
              <a:rPr lang="mr-IN" sz="1800" b="1" dirty="0"/>
              <a:t>RAG-Based Recipe Retrieval</a:t>
            </a:r>
            <a:br>
              <a:rPr lang="mr-IN" sz="1800" dirty="0"/>
            </a:br>
            <a:r>
              <a:rPr lang="mr-IN" sz="1800" dirty="0"/>
              <a:t>Retrieves recipes from a trusted knowledge base instead of generating random results. </a:t>
            </a:r>
          </a:p>
          <a:p>
            <a:endParaRPr lang="mr-IN" sz="1800" dirty="0"/>
          </a:p>
          <a:p>
            <a:pPr marL="285750" indent="-285750">
              <a:buFont typeface="Arial" panose="020B0604020202020204" pitchFamily="34" charset="0"/>
              <a:buChar char="•"/>
            </a:pPr>
            <a:r>
              <a:rPr lang="mr-IN" sz="1800" b="1" dirty="0"/>
              <a:t>Smart Ingredient Matching</a:t>
            </a:r>
            <a:br>
              <a:rPr lang="mr-IN" sz="1800" dirty="0"/>
            </a:br>
            <a:r>
              <a:rPr lang="mr-IN" sz="1800" dirty="0"/>
              <a:t>Suggests recipes based only on the ingredients available with the user. </a:t>
            </a:r>
          </a:p>
          <a:p>
            <a:endParaRPr lang="mr-IN" sz="1800" dirty="0"/>
          </a:p>
          <a:p>
            <a:pPr marL="285750" indent="-285750">
              <a:buFont typeface="Arial" panose="020B0604020202020204" pitchFamily="34" charset="0"/>
              <a:buChar char="•"/>
            </a:pPr>
            <a:r>
              <a:rPr lang="mr-IN" sz="1800" b="1" dirty="0"/>
              <a:t>Ingredient Substitution Support</a:t>
            </a:r>
            <a:br>
              <a:rPr lang="mr-IN" sz="1800" dirty="0"/>
            </a:br>
            <a:r>
              <a:rPr lang="mr-IN" sz="1800" dirty="0"/>
              <a:t>Recommends suitable alternatives when certain ingredients are missing.</a:t>
            </a:r>
          </a:p>
          <a:p>
            <a:r>
              <a:rPr lang="mr-IN" sz="1800" dirty="0"/>
              <a:t/>
            </a:r>
          </a:p>
          <a:p>
            <a:pPr marL="285750" indent="-285750">
              <a:buFont typeface="Arial" panose="020B0604020202020204" pitchFamily="34" charset="0"/>
              <a:buChar char="•"/>
            </a:pPr>
            <a:r>
              <a:rPr lang="mr-IN" sz="1800" b="1" dirty="0"/>
              <a:t>Personalized Dietary Recommendations</a:t>
            </a:r>
            <a:br>
              <a:rPr lang="mr-IN" sz="1800" dirty="0"/>
            </a:br>
            <a:r>
              <a:rPr lang="mr-IN" sz="1800" dirty="0"/>
              <a:t>Adjusts recipes according to vegetarian, vegan, diabetic, or other dietary preferences. </a:t>
            </a:r>
          </a:p>
          <a:p>
            <a:endParaRPr lang="mr-IN" sz="1800" dirty="0"/>
          </a:p>
          <a:p>
            <a:pPr marL="285750" indent="-285750">
              <a:buFont typeface="Arial" panose="020B0604020202020204" pitchFamily="34" charset="0"/>
              <a:buChar char="•"/>
            </a:pPr>
            <a:r>
              <a:rPr lang="mr-IN" sz="1800" b="1" dirty="0"/>
              <a:t>Step-by-Step Cooking Guidance</a:t>
            </a:r>
            <a:br>
              <a:rPr lang="mr-IN" sz="1800" dirty="0"/>
            </a:br>
            <a:r>
              <a:rPr lang="mr-IN" sz="1800" dirty="0"/>
              <a:t>Provides clear and easy-to-follow cooking instructions for every recipe. </a:t>
            </a:r>
          </a:p>
          <a:p>
            <a:endParaRPr lang="mr-IN" sz="1800" dirty="0"/>
          </a:p>
          <a:p>
            <a:pPr marL="285750" indent="-285750">
              <a:buFont typeface="Arial" panose="020B0604020202020204" pitchFamily="34" charset="0"/>
              <a:buChar char="•"/>
            </a:pPr>
            <a:r>
              <a:rPr lang="mr-IN" sz="1800" b="1" dirty="0"/>
              <a:t>Interactive AI Chat Assistant</a:t>
            </a:r>
            <a:br>
              <a:rPr lang="mr-IN" sz="1800" dirty="0"/>
            </a:br>
            <a:r>
              <a:rPr lang="mr-IN" sz="1800" dirty="0"/>
              <a:t>Allows users to ask cooking-related questions and receive instant guidance. </a:t>
            </a:r>
          </a:p>
          <a:p>
            <a:endParaRPr lang="mr-IN" sz="1800" b="1" dirty="0"/>
          </a:p>
          <a:p>
            <a:pPr marL="285750" indent="-285750">
              <a:buFont typeface="Arial" panose="020B0604020202020204" pitchFamily="34" charset="0"/>
              <a:buChar char="•"/>
            </a:pPr>
            <a:r>
              <a:rPr lang="mr-IN" sz="1800" b="1" dirty="0"/>
              <a:t>User-Friendly Web Interface</a:t>
            </a:r>
            <a:br>
              <a:rPr lang="mr-IN" sz="1800" dirty="0"/>
            </a:br>
            <a:r>
              <a:rPr lang="mr-IN" sz="1800" dirty="0"/>
              <a:t>Simple, responsive, and easy to use on both desktop and mobile devices.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D038BF53-E508-38E0-6855-341FCF2E77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03E9F3-D751-9092-5D14-2C4B02DDCB9F}"/>
              </a:ext>
            </a:extLst>
          </p:cNvPr>
          <p:cNvSpPr txBox="1"/>
          <p:nvPr/>
        </p:nvSpPr>
        <p:spPr>
          <a:xfrm>
            <a:off x="777240" y="390039"/>
            <a:ext cx="7123176" cy="461665"/>
          </a:xfrm>
          <a:prstGeom prst="rect">
            <a:avLst/>
          </a:prstGeom>
          <a:noFill/>
        </p:spPr>
        <p:txBody>
          <a:bodyPr wrap="square" rtlCol="0">
            <a:spAutoFit/>
          </a:bodyPr>
          <a:lstStyle/>
          <a:p>
            <a:r>
              <a:rPr lang="mr-IN" sz="2400" b="1" dirty="0"/>
              <a:t>GitHub</a:t>
            </a:r>
            <a:r>
              <a:rPr lang="en-US" sz="2400" b="1" dirty="0"/>
              <a:t> Link</a:t>
            </a:r>
            <a:endParaRPr lang="en-IN" sz="2400" b="1" dirty="0"/>
          </a:p>
        </p:txBody>
      </p:sp>
      <p:sp>
        <p:nvSpPr>
          <p:cNvPr id="3" name="TextBox 2">
            <a:extLst>
              <a:ext uri="{FF2B5EF4-FFF2-40B4-BE49-F238E27FC236}">
                <a16:creationId xmlns:a16="http://schemas.microsoft.com/office/drawing/2014/main" id="{4D2B32E9-2979-D3A8-3896-45101DC3B851}"/>
              </a:ext>
            </a:extLst>
          </p:cNvPr>
          <p:cNvSpPr txBox="1"/>
          <p:nvPr/>
        </p:nvSpPr>
        <p:spPr>
          <a:xfrm>
            <a:off x="682647" y="1225689"/>
            <a:ext cx="11301984" cy="1754326"/>
          </a:xfrm>
          <a:prstGeom prst="rect">
            <a:avLst/>
          </a:prstGeom>
          <a:noFill/>
        </p:spPr>
        <p:txBody>
          <a:bodyPr wrap="square" rtlCol="0">
            <a:spAutoFit/>
          </a:bodyPr>
          <a:lstStyle/>
          <a:p>
            <a:r>
              <a:rPr lang="mr-IN" sz="1800" dirty="0"/>
              <a:t>AI-powered Recipe Preparation Agent using IBM Granite Models, IBM watsonx.ai, and Retrieval-Augmented Generation (RAG) that helps users prepare meals using available ingredients and provides personalized cooking guidance.</a:t>
            </a:r>
          </a:p>
          <a:p>
            <a:endParaRPr lang="mr-IN" sz="1800" dirty="0"/>
          </a:p>
          <a:p>
            <a:r>
              <a:rPr lang="mr-IN" sz="1800" dirty="0"/>
              <a:t>GitHub Repository:</a:t>
            </a:r>
          </a:p>
          <a:p>
            <a:r>
              <a:rPr lang="en-US" sz="1800" dirty="0">
                <a:solidFill>
                  <a:schemeClr val="accent1"/>
                </a:solidFill>
                <a:hlinkClick r:id="rId3">
                  <a:extLst>
                    <a:ext uri="{A12FA001-AC4F-418D-AE19-62706E023703}">
                      <ahyp:hlinkClr xmlns:ahyp="http://schemas.microsoft.com/office/drawing/2018/hyperlinkcolor" val="tx"/>
                    </a:ext>
                  </a:extLst>
                </a:hlinkClick>
              </a:rPr>
              <a:t>https://github.com/vedangi481/Recipe-Agent-Chef-Bot</a:t>
            </a:r>
            <a:endParaRPr lang="mr-IN" sz="1800" dirty="0">
              <a:solidFill>
                <a:schemeClr val="accent1"/>
              </a:solidFill>
            </a:endParaRPr>
          </a:p>
        </p:txBody>
      </p:sp>
    </p:spTree>
    <p:extLst>
      <p:ext uri="{BB962C8B-B14F-4D97-AF65-F5344CB8AC3E}">
        <p14:creationId xmlns:p14="http://schemas.microsoft.com/office/powerpoint/2010/main" val="3981205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endParaRPr sz="2400" b="1" dirty="0">
              <a:sym typeface="Times New Roman" panose="02020603050405020304"/>
            </a:endParaRPr>
          </a:p>
        </p:txBody>
      </p:sp>
      <p:pic>
        <p:nvPicPr>
          <p:cNvPr id="5" name="Picture 4">
            <a:extLst>
              <a:ext uri="{FF2B5EF4-FFF2-40B4-BE49-F238E27FC236}">
                <a16:creationId xmlns:a16="http://schemas.microsoft.com/office/drawing/2014/main" id="{3C98E3B0-F188-2800-B813-754C61ABA5DB}"/>
              </a:ext>
            </a:extLst>
          </p:cNvPr>
          <p:cNvPicPr>
            <a:picLocks noChangeAspect="1"/>
          </p:cNvPicPr>
          <p:nvPr/>
        </p:nvPicPr>
        <p:blipFill>
          <a:blip r:embed="rId3"/>
          <a:stretch>
            <a:fillRect/>
          </a:stretch>
        </p:blipFill>
        <p:spPr>
          <a:xfrm>
            <a:off x="537590" y="1218835"/>
            <a:ext cx="10734203" cy="49447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04DF0C5-A5CE-6D23-0E09-90D4FF27CD6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FC2D190B-0E5F-1DD2-4114-A8F0A5D6B23A}"/>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5E2312A6-C5A3-35CD-8626-BC8A2FC182C5}"/>
              </a:ext>
            </a:extLst>
          </p:cNvPr>
          <p:cNvPicPr>
            <a:picLocks noChangeAspect="1"/>
          </p:cNvPicPr>
          <p:nvPr/>
        </p:nvPicPr>
        <p:blipFill>
          <a:blip r:embed="rId3"/>
          <a:stretch>
            <a:fillRect/>
          </a:stretch>
        </p:blipFill>
        <p:spPr>
          <a:xfrm>
            <a:off x="207067" y="1025181"/>
            <a:ext cx="11403724" cy="5367875"/>
          </a:xfrm>
          <a:prstGeom prst="rect">
            <a:avLst/>
          </a:prstGeom>
        </p:spPr>
      </p:pic>
    </p:spTree>
    <p:extLst>
      <p:ext uri="{BB962C8B-B14F-4D97-AF65-F5344CB8AC3E}">
        <p14:creationId xmlns:p14="http://schemas.microsoft.com/office/powerpoint/2010/main" val="3777983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7B15D24-0243-7E10-09CE-C9DBB33A289F}"/>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B3674C5-A1DB-FF41-AF3B-E4CAD7281DC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892FE2AB-D2E0-8614-9D2E-A836D4BAB155}"/>
              </a:ext>
            </a:extLst>
          </p:cNvPr>
          <p:cNvPicPr>
            <a:picLocks noChangeAspect="1"/>
          </p:cNvPicPr>
          <p:nvPr/>
        </p:nvPicPr>
        <p:blipFill>
          <a:blip r:embed="rId3"/>
          <a:stretch>
            <a:fillRect/>
          </a:stretch>
        </p:blipFill>
        <p:spPr>
          <a:xfrm>
            <a:off x="187071" y="1067638"/>
            <a:ext cx="5684533" cy="47227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28602CE9-65CD-78C7-EAF9-0F1BBBFD9115}"/>
              </a:ext>
            </a:extLst>
          </p:cNvPr>
          <p:cNvPicPr>
            <a:picLocks noChangeAspect="1"/>
          </p:cNvPicPr>
          <p:nvPr/>
        </p:nvPicPr>
        <p:blipFill>
          <a:blip r:embed="rId4"/>
          <a:stretch>
            <a:fillRect/>
          </a:stretch>
        </p:blipFill>
        <p:spPr>
          <a:xfrm>
            <a:off x="6096000" y="1067637"/>
            <a:ext cx="5908929" cy="4722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8485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0752B5E4-CBC0-3407-B4E7-431FFA184879}"/>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60CD2ECE-7FF7-6442-ECCE-6ED3B55F4F3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5" name="Picture 4">
            <a:extLst>
              <a:ext uri="{FF2B5EF4-FFF2-40B4-BE49-F238E27FC236}">
                <a16:creationId xmlns:a16="http://schemas.microsoft.com/office/drawing/2014/main" id="{31C02D74-E59C-F92E-0CCB-9AFCB0FADE97}"/>
              </a:ext>
            </a:extLst>
          </p:cNvPr>
          <p:cNvPicPr>
            <a:picLocks noChangeAspect="1"/>
          </p:cNvPicPr>
          <p:nvPr/>
        </p:nvPicPr>
        <p:blipFill>
          <a:blip r:embed="rId3"/>
          <a:stretch>
            <a:fillRect/>
          </a:stretch>
        </p:blipFill>
        <p:spPr>
          <a:xfrm>
            <a:off x="1578326" y="1308529"/>
            <a:ext cx="8480073" cy="50501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94161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2D4F4C9-B126-A1D4-718F-076D6B35FF11}"/>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FA0D0A0-CC2B-3C85-0F84-9A5CAE25A6E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E485CE6D-E861-AD87-4DDA-906C5BA7D792}"/>
              </a:ext>
            </a:extLst>
          </p:cNvPr>
          <p:cNvPicPr>
            <a:picLocks noChangeAspect="1"/>
          </p:cNvPicPr>
          <p:nvPr/>
        </p:nvPicPr>
        <p:blipFill>
          <a:blip r:embed="rId3"/>
          <a:stretch>
            <a:fillRect/>
          </a:stretch>
        </p:blipFill>
        <p:spPr>
          <a:xfrm>
            <a:off x="447178" y="975750"/>
            <a:ext cx="6489649" cy="54581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6F675DDD-C982-C1C1-E7D9-4D840F078804}"/>
              </a:ext>
            </a:extLst>
          </p:cNvPr>
          <p:cNvPicPr>
            <a:picLocks noChangeAspect="1"/>
          </p:cNvPicPr>
          <p:nvPr/>
        </p:nvPicPr>
        <p:blipFill>
          <a:blip r:embed="rId4"/>
          <a:stretch>
            <a:fillRect/>
          </a:stretch>
        </p:blipFill>
        <p:spPr>
          <a:xfrm>
            <a:off x="7323221" y="1198180"/>
            <a:ext cx="4650183" cy="46981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4264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A93B810-0764-3395-D50F-6B8F6962E7B9}"/>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C0440F-AF37-EA25-12C5-BA2A829C777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8F26BDC0-E083-0D1C-8774-150F68ADF011}"/>
              </a:ext>
            </a:extLst>
          </p:cNvPr>
          <p:cNvPicPr>
            <a:picLocks noChangeAspect="1"/>
          </p:cNvPicPr>
          <p:nvPr/>
        </p:nvPicPr>
        <p:blipFill>
          <a:blip r:embed="rId3"/>
          <a:stretch>
            <a:fillRect/>
          </a:stretch>
        </p:blipFill>
        <p:spPr>
          <a:xfrm>
            <a:off x="165091" y="1375132"/>
            <a:ext cx="5521006" cy="3492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B223277E-67C6-B32D-A81A-6AF861CEFD23}"/>
              </a:ext>
            </a:extLst>
          </p:cNvPr>
          <p:cNvPicPr>
            <a:picLocks noChangeAspect="1"/>
          </p:cNvPicPr>
          <p:nvPr/>
        </p:nvPicPr>
        <p:blipFill>
          <a:blip r:embed="rId4"/>
          <a:stretch>
            <a:fillRect/>
          </a:stretch>
        </p:blipFill>
        <p:spPr>
          <a:xfrm>
            <a:off x="6096000" y="1375132"/>
            <a:ext cx="4541894" cy="40026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82918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C18152E-6D15-5E50-AF7C-97424023759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CBA93017-E37C-FC73-841C-F1D462125E6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5" name="Picture 4">
            <a:extLst>
              <a:ext uri="{FF2B5EF4-FFF2-40B4-BE49-F238E27FC236}">
                <a16:creationId xmlns:a16="http://schemas.microsoft.com/office/drawing/2014/main" id="{9E14AC98-FD89-CF4C-695E-B6CC4D3FECB8}"/>
              </a:ext>
            </a:extLst>
          </p:cNvPr>
          <p:cNvPicPr>
            <a:picLocks noChangeAspect="1"/>
          </p:cNvPicPr>
          <p:nvPr/>
        </p:nvPicPr>
        <p:blipFill>
          <a:blip r:embed="rId3"/>
          <a:stretch>
            <a:fillRect/>
          </a:stretch>
        </p:blipFill>
        <p:spPr>
          <a:xfrm>
            <a:off x="371841" y="1347156"/>
            <a:ext cx="6543966" cy="472519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a:extLst>
              <a:ext uri="{FF2B5EF4-FFF2-40B4-BE49-F238E27FC236}">
                <a16:creationId xmlns:a16="http://schemas.microsoft.com/office/drawing/2014/main" id="{9CDDCCD2-488C-24C0-D6F0-8FC7B95602E3}"/>
              </a:ext>
            </a:extLst>
          </p:cNvPr>
          <p:cNvPicPr>
            <a:picLocks noChangeAspect="1"/>
          </p:cNvPicPr>
          <p:nvPr/>
        </p:nvPicPr>
        <p:blipFill>
          <a:blip r:embed="rId4"/>
          <a:stretch>
            <a:fillRect/>
          </a:stretch>
        </p:blipFill>
        <p:spPr>
          <a:xfrm>
            <a:off x="7735614" y="1174217"/>
            <a:ext cx="3617304" cy="50960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36456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9E661C2-519D-69BA-754F-F0F2BC2C8D7E}"/>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DD203907-9599-CFDE-765F-562DAABA01C2}"/>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75855E4B-09E6-148D-6D61-77906DD61C1F}"/>
              </a:ext>
            </a:extLst>
          </p:cNvPr>
          <p:cNvPicPr>
            <a:picLocks noChangeAspect="1"/>
          </p:cNvPicPr>
          <p:nvPr/>
        </p:nvPicPr>
        <p:blipFill>
          <a:blip r:embed="rId3"/>
          <a:stretch>
            <a:fillRect/>
          </a:stretch>
        </p:blipFill>
        <p:spPr>
          <a:xfrm>
            <a:off x="162474" y="1679190"/>
            <a:ext cx="4056956" cy="396798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a:extLst>
              <a:ext uri="{FF2B5EF4-FFF2-40B4-BE49-F238E27FC236}">
                <a16:creationId xmlns:a16="http://schemas.microsoft.com/office/drawing/2014/main" id="{E46906B0-FD72-5CB6-39DB-AEF2494660F8}"/>
              </a:ext>
            </a:extLst>
          </p:cNvPr>
          <p:cNvPicPr>
            <a:picLocks noChangeAspect="1"/>
          </p:cNvPicPr>
          <p:nvPr/>
        </p:nvPicPr>
        <p:blipFill>
          <a:blip r:embed="rId4"/>
          <a:stretch>
            <a:fillRect/>
          </a:stretch>
        </p:blipFill>
        <p:spPr>
          <a:xfrm>
            <a:off x="4429129" y="1781503"/>
            <a:ext cx="7600397" cy="38656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90484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0650B1A-11C6-47EF-D070-304FE4B9E43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34B879F-C866-C7B9-69C4-4935199A9FE2}"/>
              </a:ext>
            </a:extLst>
          </p:cNvPr>
          <p:cNvSpPr/>
          <p:nvPr/>
        </p:nvSpPr>
        <p:spPr>
          <a:xfrm>
            <a:off x="1218724" y="20267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Screenshots of </a:t>
            </a:r>
            <a:r>
              <a:rPr lang="en-US" sz="2400" b="1" dirty="0" err="1">
                <a:sym typeface="Times New Roman" panose="02020603050405020304"/>
              </a:rPr>
              <a:t>ibm</a:t>
            </a:r>
            <a:r>
              <a:rPr lang="en-US" sz="2400" b="1" dirty="0">
                <a:sym typeface="Times New Roman" panose="02020603050405020304"/>
              </a:rPr>
              <a:t> bob-</a:t>
            </a:r>
            <a:endParaRPr sz="2400" b="1" dirty="0">
              <a:sym typeface="Times New Roman" panose="02020603050405020304"/>
            </a:endParaRPr>
          </a:p>
        </p:txBody>
      </p:sp>
      <p:sp>
        <p:nvSpPr>
          <p:cNvPr id="279" name="Google Shape;279;p18">
            <a:extLst>
              <a:ext uri="{FF2B5EF4-FFF2-40B4-BE49-F238E27FC236}">
                <a16:creationId xmlns:a16="http://schemas.microsoft.com/office/drawing/2014/main" id="{E11A871B-4A6C-A43E-40B6-20D9D05D050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a:extLst>
              <a:ext uri="{FF2B5EF4-FFF2-40B4-BE49-F238E27FC236}">
                <a16:creationId xmlns:a16="http://schemas.microsoft.com/office/drawing/2014/main" id="{03FB0E0E-C7A8-924F-918E-1D373B0F997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a:extLst>
              <a:ext uri="{FF2B5EF4-FFF2-40B4-BE49-F238E27FC236}">
                <a16:creationId xmlns:a16="http://schemas.microsoft.com/office/drawing/2014/main" id="{A7334954-695C-87EB-0DF0-37C4E649C32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a:extLst>
              <a:ext uri="{FF2B5EF4-FFF2-40B4-BE49-F238E27FC236}">
                <a16:creationId xmlns:a16="http://schemas.microsoft.com/office/drawing/2014/main" id="{79D07805-FA26-FD72-36B5-FBE5957F75C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a:extLst>
              <a:ext uri="{FF2B5EF4-FFF2-40B4-BE49-F238E27FC236}">
                <a16:creationId xmlns:a16="http://schemas.microsoft.com/office/drawing/2014/main" id="{C617E7D8-AD98-3372-75D7-44F93DD7C6A7}"/>
              </a:ext>
            </a:extLst>
          </p:cNvPr>
          <p:cNvPicPr>
            <a:picLocks noChangeAspect="1"/>
          </p:cNvPicPr>
          <p:nvPr/>
        </p:nvPicPr>
        <p:blipFill>
          <a:blip r:embed="rId3"/>
          <a:stretch>
            <a:fillRect/>
          </a:stretch>
        </p:blipFill>
        <p:spPr>
          <a:xfrm>
            <a:off x="1623827" y="1137580"/>
            <a:ext cx="8560697" cy="5517743"/>
          </a:xfrm>
          <a:prstGeom prst="rect">
            <a:avLst/>
          </a:prstGeom>
        </p:spPr>
      </p:pic>
    </p:spTree>
    <p:extLst>
      <p:ext uri="{BB962C8B-B14F-4D97-AF65-F5344CB8AC3E}">
        <p14:creationId xmlns:p14="http://schemas.microsoft.com/office/powerpoint/2010/main" val="1836210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lvl="0" indent="-285750">
              <a:lnSpc>
                <a:spcPct val="162000"/>
              </a:lnSpc>
              <a:buClr>
                <a:srgbClr val="2B3541"/>
              </a:buClr>
              <a:buSzPts val="1850"/>
              <a:buFont typeface="Arial" panose="020B0604020202020204" pitchFamily="34" charset="0"/>
              <a:buChar char="•"/>
            </a:pPr>
            <a:r>
              <a:rPr lang="en-US" sz="1800" b="1" dirty="0">
                <a:latin typeface="+mj-lt"/>
              </a:rPr>
              <a:t>Voice-enabled recipe assistant</a:t>
            </a:r>
            <a:r>
              <a:rPr lang="en-US" sz="1800" dirty="0">
                <a:latin typeface="+mj-lt"/>
              </a:rPr>
              <a:t> for hands-free cooking.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Mobile application</a:t>
            </a:r>
            <a:r>
              <a:rPr lang="en-US" sz="1800" dirty="0">
                <a:latin typeface="+mj-lt"/>
              </a:rPr>
              <a:t> for Android and iOS users.</a:t>
            </a:r>
          </a:p>
          <a:p>
            <a:pPr marL="285750" lvl="0" indent="-285750">
              <a:lnSpc>
                <a:spcPct val="162000"/>
              </a:lnSpc>
              <a:buClr>
                <a:srgbClr val="2B3541"/>
              </a:buClr>
              <a:buSzPts val="1850"/>
              <a:buFont typeface="Arial" panose="020B0604020202020204" pitchFamily="34" charset="0"/>
              <a:buChar char="•"/>
            </a:pPr>
            <a:r>
              <a:rPr lang="en-US" sz="1800" b="1" dirty="0">
                <a:latin typeface="+mj-lt"/>
              </a:rPr>
              <a:t>Image-based ingredient recognition</a:t>
            </a:r>
            <a:r>
              <a:rPr lang="en-US" sz="1800" dirty="0">
                <a:latin typeface="+mj-lt"/>
              </a:rPr>
              <a:t> using the device camera.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Personalized meal plans</a:t>
            </a:r>
            <a:r>
              <a:rPr lang="en-US" sz="1800" dirty="0">
                <a:latin typeface="+mj-lt"/>
              </a:rPr>
              <a:t> based on user preferences and health goals.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Nutrition and calorie tracking</a:t>
            </a:r>
            <a:r>
              <a:rPr lang="en-US" sz="1800" dirty="0">
                <a:latin typeface="+mj-lt"/>
              </a:rPr>
              <a:t> for healthier food choices.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Smart grocery list generation</a:t>
            </a:r>
            <a:r>
              <a:rPr lang="en-US" sz="1800" dirty="0">
                <a:latin typeface="+mj-lt"/>
              </a:rPr>
              <a:t> for missing ingredients.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Multi-language support</a:t>
            </a:r>
            <a:r>
              <a:rPr lang="en-US" sz="1800" dirty="0">
                <a:latin typeface="+mj-lt"/>
              </a:rPr>
              <a:t> for regional and international users.</a:t>
            </a:r>
          </a:p>
          <a:p>
            <a:pPr marL="285750" lvl="0" indent="-285750">
              <a:lnSpc>
                <a:spcPct val="162000"/>
              </a:lnSpc>
              <a:buClr>
                <a:srgbClr val="2B3541"/>
              </a:buClr>
              <a:buSzPts val="1850"/>
              <a:buFont typeface="Arial" panose="020B0604020202020204" pitchFamily="34" charset="0"/>
              <a:buChar char="•"/>
            </a:pPr>
            <a:r>
              <a:rPr lang="en-US" sz="1800" b="1" dirty="0">
                <a:latin typeface="+mj-lt"/>
              </a:rPr>
              <a:t>Integration with grocery delivery services</a:t>
            </a:r>
            <a:r>
              <a:rPr lang="en-US" sz="1800" dirty="0">
                <a:latin typeface="+mj-lt"/>
              </a:rPr>
              <a:t> for easy ingredient ordering.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Cloud deployment</a:t>
            </a:r>
            <a:r>
              <a:rPr lang="en-US" sz="1800" dirty="0">
                <a:latin typeface="+mj-lt"/>
              </a:rPr>
              <a:t> to support a larger number of users.</a:t>
            </a:r>
          </a:p>
          <a:p>
            <a:pPr marL="285750" lvl="0" indent="-285750">
              <a:lnSpc>
                <a:spcPct val="162000"/>
              </a:lnSpc>
              <a:buClr>
                <a:srgbClr val="2B3541"/>
              </a:buClr>
              <a:buSzPts val="1850"/>
              <a:buFont typeface="Arial" panose="020B0604020202020204" pitchFamily="34" charset="0"/>
              <a:buChar char="•"/>
            </a:pPr>
            <a:endParaRPr lang="en-US" sz="1800" i="0" u="none" strike="noStrike" cap="none" dirty="0">
              <a:solidFill>
                <a:srgbClr val="000000"/>
              </a:solidFill>
              <a:latin typeface="+mj-lt"/>
              <a:ea typeface="Times New Roman" panose="02020603050405020304"/>
              <a:cs typeface="Times New Roman" panose="02020603050405020304"/>
              <a:sym typeface="Times New Roman" panose="02020603050405020304"/>
            </a:endParaRPr>
          </a:p>
          <a:p>
            <a:r>
              <a:rPr lang="en-US" sz="1800" b="1" dirty="0">
                <a:latin typeface="+mj-lt"/>
              </a:rPr>
              <a:t>Future Goal : </a:t>
            </a:r>
            <a:r>
              <a:rPr lang="en-US" sz="1800" dirty="0">
                <a:latin typeface="+mj-lt"/>
              </a:rPr>
              <a:t>To develop the Recipe Preparation Agent into a smart kitchen assistant that helps users prepare healthy, personalized meals while reducing food waste and making everyday cooking easier through AI-powered recommendations.</a:t>
            </a:r>
          </a:p>
          <a:p>
            <a:pPr lvl="0">
              <a:lnSpc>
                <a:spcPct val="162000"/>
              </a:lnSpc>
              <a:buClr>
                <a:srgbClr val="2B3541"/>
              </a:buClr>
              <a:buSzPts val="1850"/>
            </a:pPr>
            <a:endParaRPr lang="en-US" sz="1800" i="0" u="none" strike="noStrike" cap="none" dirty="0">
              <a:solidFill>
                <a:srgbClr val="000000"/>
              </a:solidFill>
              <a:latin typeface="+mj-lt"/>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r>
          </a:p>
        </p:txBody>
      </p:sp>
      <p:pic>
        <p:nvPicPr>
          <p:cNvPr id="8" name="Picture 7">
            <a:extLst>
              <a:ext uri="{FF2B5EF4-FFF2-40B4-BE49-F238E27FC236}">
                <a16:creationId xmlns:a16="http://schemas.microsoft.com/office/drawing/2014/main" id="{2F8967EC-EC06-4FBB-23B6-98CED1FECCF4}"/>
              </a:ext>
            </a:extLst>
          </p:cNvPr>
          <p:cNvPicPr>
            <a:picLocks noChangeAspect="1"/>
          </p:cNvPicPr>
          <p:nvPr/>
        </p:nvPicPr>
        <p:blipFill>
          <a:blip r:embed="rId2"/>
          <a:stretch>
            <a:fillRect/>
          </a:stretch>
        </p:blipFill>
        <p:spPr>
          <a:xfrm>
            <a:off x="2086176" y="1213281"/>
            <a:ext cx="7551810" cy="51780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0D0A-213B-7C92-DE0A-F7FA90DB4E5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B0CEAEC-0801-4BC8-A43E-7861D978E3DD}"/>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8D5342AF-A429-6211-F306-AC3BF2F59C91}"/>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r>
          </a:p>
        </p:txBody>
      </p:sp>
      <p:pic>
        <p:nvPicPr>
          <p:cNvPr id="4" name="Picture 3">
            <a:extLst>
              <a:ext uri="{FF2B5EF4-FFF2-40B4-BE49-F238E27FC236}">
                <a16:creationId xmlns:a16="http://schemas.microsoft.com/office/drawing/2014/main" id="{D03B8F85-B3EA-EAF6-8827-F1B7376512E9}"/>
              </a:ext>
            </a:extLst>
          </p:cNvPr>
          <p:cNvPicPr>
            <a:picLocks noChangeAspect="1"/>
          </p:cNvPicPr>
          <p:nvPr/>
        </p:nvPicPr>
        <p:blipFill>
          <a:blip r:embed="rId2"/>
          <a:stretch>
            <a:fillRect/>
          </a:stretch>
        </p:blipFill>
        <p:spPr>
          <a:xfrm>
            <a:off x="2037821" y="815754"/>
            <a:ext cx="8031089" cy="5555655"/>
          </a:xfrm>
          <a:prstGeom prst="rect">
            <a:avLst/>
          </a:prstGeom>
        </p:spPr>
      </p:pic>
    </p:spTree>
    <p:extLst>
      <p:ext uri="{BB962C8B-B14F-4D97-AF65-F5344CB8AC3E}">
        <p14:creationId xmlns:p14="http://schemas.microsoft.com/office/powerpoint/2010/main" val="1201633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E906C-A227-30F0-7341-EB1D8D62391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D9D19A7-BA26-7680-3F34-6094791E0CE2}"/>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172F00C1-36AA-FB16-399A-54EEFB75613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r>
          </a:p>
        </p:txBody>
      </p:sp>
      <p:pic>
        <p:nvPicPr>
          <p:cNvPr id="4" name="Picture 3">
            <a:extLst>
              <a:ext uri="{FF2B5EF4-FFF2-40B4-BE49-F238E27FC236}">
                <a16:creationId xmlns:a16="http://schemas.microsoft.com/office/drawing/2014/main" id="{A3A4D2FD-AF95-5519-C14E-352ECE432E24}"/>
              </a:ext>
            </a:extLst>
          </p:cNvPr>
          <p:cNvPicPr>
            <a:picLocks noChangeAspect="1"/>
          </p:cNvPicPr>
          <p:nvPr/>
        </p:nvPicPr>
        <p:blipFill>
          <a:blip r:embed="rId2"/>
          <a:stretch>
            <a:fillRect/>
          </a:stretch>
        </p:blipFill>
        <p:spPr>
          <a:xfrm>
            <a:off x="2089512" y="884488"/>
            <a:ext cx="8347260" cy="5771241"/>
          </a:xfrm>
          <a:prstGeom prst="rect">
            <a:avLst/>
          </a:prstGeom>
        </p:spPr>
      </p:pic>
    </p:spTree>
    <p:extLst>
      <p:ext uri="{BB962C8B-B14F-4D97-AF65-F5344CB8AC3E}">
        <p14:creationId xmlns:p14="http://schemas.microsoft.com/office/powerpoint/2010/main" val="19807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a:extLst>
              <a:ext uri="{FF2B5EF4-FFF2-40B4-BE49-F238E27FC236}">
                <a16:creationId xmlns:a16="http://schemas.microsoft.com/office/drawing/2014/main" id="{C6492AD6-6C38-4BDD-75A5-5BAB1CEB1ACC}"/>
              </a:ext>
            </a:extLst>
          </p:cNvPr>
          <p:cNvPicPr>
            <a:picLocks noChangeAspect="1"/>
          </p:cNvPicPr>
          <p:nvPr/>
        </p:nvPicPr>
        <p:blipFill>
          <a:blip r:embed="rId2"/>
          <a:stretch>
            <a:fillRect/>
          </a:stretch>
        </p:blipFill>
        <p:spPr>
          <a:xfrm>
            <a:off x="1534490" y="807458"/>
            <a:ext cx="9123019" cy="564195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AC36-012D-B2AA-A36A-96AE68FF2E0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724B64-B114-9FCF-DC51-74FBDD3075A2}"/>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4" name="Picture 3">
            <a:extLst>
              <a:ext uri="{FF2B5EF4-FFF2-40B4-BE49-F238E27FC236}">
                <a16:creationId xmlns:a16="http://schemas.microsoft.com/office/drawing/2014/main" id="{EB88ED3D-ECE8-AA22-2E35-66B4B1EA3A6B}"/>
              </a:ext>
            </a:extLst>
          </p:cNvPr>
          <p:cNvPicPr>
            <a:picLocks noChangeAspect="1"/>
          </p:cNvPicPr>
          <p:nvPr/>
        </p:nvPicPr>
        <p:blipFill>
          <a:blip r:embed="rId2"/>
          <a:stretch>
            <a:fillRect/>
          </a:stretch>
        </p:blipFill>
        <p:spPr>
          <a:xfrm>
            <a:off x="176695" y="1592632"/>
            <a:ext cx="5919305" cy="4350731"/>
          </a:xfrm>
          <a:prstGeom prst="rect">
            <a:avLst/>
          </a:prstGeom>
        </p:spPr>
      </p:pic>
      <p:pic>
        <p:nvPicPr>
          <p:cNvPr id="7" name="Picture 6">
            <a:extLst>
              <a:ext uri="{FF2B5EF4-FFF2-40B4-BE49-F238E27FC236}">
                <a16:creationId xmlns:a16="http://schemas.microsoft.com/office/drawing/2014/main" id="{8E557CBE-913D-980A-ED02-9DB0E7274C7B}"/>
              </a:ext>
            </a:extLst>
          </p:cNvPr>
          <p:cNvPicPr>
            <a:picLocks noChangeAspect="1"/>
          </p:cNvPicPr>
          <p:nvPr/>
        </p:nvPicPr>
        <p:blipFill>
          <a:blip r:embed="rId3"/>
          <a:stretch>
            <a:fillRect/>
          </a:stretch>
        </p:blipFill>
        <p:spPr>
          <a:xfrm>
            <a:off x="6358759" y="1592632"/>
            <a:ext cx="5656546" cy="4350731"/>
          </a:xfrm>
          <a:prstGeom prst="rect">
            <a:avLst/>
          </a:prstGeom>
        </p:spPr>
      </p:pic>
    </p:spTree>
    <p:extLst>
      <p:ext uri="{BB962C8B-B14F-4D97-AF65-F5344CB8AC3E}">
        <p14:creationId xmlns:p14="http://schemas.microsoft.com/office/powerpoint/2010/main" val="2372196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TotalTime>
  <Words>1225</Words>
  <Application>Microsoft Office PowerPoint</Application>
  <PresentationFormat>Widescreen</PresentationFormat>
  <Paragraphs>132</Paragraphs>
  <Slides>28</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Vedangi Patil</cp:lastModifiedBy>
  <cp:revision>128</cp:revision>
  <dcterms:created xsi:type="dcterms:W3CDTF">2025-07-08T05:06:00Z</dcterms:created>
  <dcterms:modified xsi:type="dcterms:W3CDTF">2026-07-14T18:13:53Z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5A4DF30BFFB94ACDB1C176C49702DBC3_12</vt:lpwstr>
  </property>
</Properties>
</file>